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 Bold" panose="020B0604020202020204" charset="0"/>
      <p:regular r:id="rId12"/>
    </p:embeddedFont>
    <p:embeddedFont>
      <p:font typeface="Roboto Condensed" panose="02000000000000000000" pitchFamily="2" charset="0"/>
      <p:regular r:id="rId13"/>
    </p:embeddedFont>
    <p:embeddedFont>
      <p:font typeface="Roboto Condensed Bold" panose="02000000000000000000" charset="0"/>
      <p:regular r:id="rId14"/>
    </p:embeddedFont>
    <p:embeddedFont>
      <p:font typeface="Roboto Condensed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7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50237" y="3317974"/>
            <a:ext cx="9445526" cy="182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VidyaSetu – Bridge of Knowledge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7" y="5448449"/>
            <a:ext cx="9445526" cy="690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2750" i="1">
                <a:solidFill>
                  <a:srgbClr val="55575A"/>
                </a:solidFill>
                <a:latin typeface="Roboto Condensed Italics"/>
                <a:ea typeface="Roboto Condensed Italics"/>
                <a:cs typeface="Roboto Condensed Italics"/>
                <a:sym typeface="Roboto Condensed Italics"/>
              </a:rPr>
              <a:t>Scalable. Inclusive. Joyful.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7" y="6362849"/>
            <a:ext cx="9445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Alpha | Tech Innovations College | Problem ID: #SIH2024-EDU-007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29999" y="-109388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66341" y="703361"/>
            <a:ext cx="9497317" cy="178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The Challenge We’re Solving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66341" y="2900065"/>
            <a:ext cx="1380530" cy="1656606"/>
            <a:chOff x="0" y="0"/>
            <a:chExt cx="1840707" cy="2208808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840738" cy="2208784"/>
            </a:xfrm>
            <a:custGeom>
              <a:avLst/>
              <a:gdLst/>
              <a:ahLst/>
              <a:cxnLst/>
              <a:rect l="l" t="t" r="r" b="b"/>
              <a:pathLst>
                <a:path w="1840738" h="2208784">
                  <a:moveTo>
                    <a:pt x="0" y="0"/>
                  </a:moveTo>
                  <a:lnTo>
                    <a:pt x="1840738" y="0"/>
                  </a:lnTo>
                  <a:lnTo>
                    <a:pt x="1840738" y="2208784"/>
                  </a:lnTo>
                  <a:lnTo>
                    <a:pt x="0" y="2208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622948" y="3147566"/>
            <a:ext cx="4641502" cy="459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Fragmented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2948" y="3677841"/>
            <a:ext cx="7840713" cy="53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dirty="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Disjointed tools, inconsistent access to information.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66340" y="4562213"/>
            <a:ext cx="1380530" cy="1656606"/>
            <a:chOff x="0" y="0"/>
            <a:chExt cx="1840707" cy="2208808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840738" cy="2208784"/>
            </a:xfrm>
            <a:custGeom>
              <a:avLst/>
              <a:gdLst/>
              <a:ahLst/>
              <a:cxnLst/>
              <a:rect l="l" t="t" r="r" b="b"/>
              <a:pathLst>
                <a:path w="1840738" h="2208784">
                  <a:moveTo>
                    <a:pt x="0" y="0"/>
                  </a:moveTo>
                  <a:lnTo>
                    <a:pt x="1840738" y="0"/>
                  </a:lnTo>
                  <a:lnTo>
                    <a:pt x="1840738" y="2208784"/>
                  </a:lnTo>
                  <a:lnTo>
                    <a:pt x="0" y="2208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-2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2622948" y="4804173"/>
            <a:ext cx="6063852" cy="405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No Multilingual Support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948" y="5334446"/>
            <a:ext cx="7840713" cy="53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dirty="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Exclusion for non-English speakers, limited reach.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66341" y="6213276"/>
            <a:ext cx="1380530" cy="1656606"/>
            <a:chOff x="0" y="0"/>
            <a:chExt cx="1840707" cy="2208808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840738" cy="2208784"/>
            </a:xfrm>
            <a:custGeom>
              <a:avLst/>
              <a:gdLst/>
              <a:ahLst/>
              <a:cxnLst/>
              <a:rect l="l" t="t" r="r" b="b"/>
              <a:pathLst>
                <a:path w="1840738" h="2208784">
                  <a:moveTo>
                    <a:pt x="0" y="0"/>
                  </a:moveTo>
                  <a:lnTo>
                    <a:pt x="1840738" y="0"/>
                  </a:lnTo>
                  <a:lnTo>
                    <a:pt x="1840738" y="2208784"/>
                  </a:lnTo>
                  <a:lnTo>
                    <a:pt x="0" y="2208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2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622948" y="6460777"/>
            <a:ext cx="3505795" cy="459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Low Engagement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22948" y="6991052"/>
            <a:ext cx="7840713" cy="53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dirty="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Monotonous interfaces, lack of interactive elements.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66341" y="7869882"/>
            <a:ext cx="1380530" cy="1656606"/>
            <a:chOff x="0" y="0"/>
            <a:chExt cx="1840707" cy="2208808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840738" cy="2208784"/>
            </a:xfrm>
            <a:custGeom>
              <a:avLst/>
              <a:gdLst/>
              <a:ahLst/>
              <a:cxnLst/>
              <a:rect l="l" t="t" r="r" b="b"/>
              <a:pathLst>
                <a:path w="1840738" h="2208784">
                  <a:moveTo>
                    <a:pt x="0" y="0"/>
                  </a:moveTo>
                  <a:lnTo>
                    <a:pt x="1840738" y="0"/>
                  </a:lnTo>
                  <a:lnTo>
                    <a:pt x="1840738" y="2208784"/>
                  </a:lnTo>
                  <a:lnTo>
                    <a:pt x="0" y="2208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-2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622948" y="8117384"/>
            <a:ext cx="5529114" cy="459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 dirty="0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Inaccessible Dashboards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22948" y="8647659"/>
            <a:ext cx="7840713" cy="53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Complex UIs, not adaptive to diverse user needs.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93564"/>
            <a:ext cx="1097815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Our Solution – VidyaSetu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308472"/>
            <a:ext cx="16303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1E1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VidyaSetu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a unified, multilingual dashboard designed to transform the educational experience. It brings together essential features in one intuitive platform.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6514" y="4492079"/>
            <a:ext cx="4184302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Unified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047952"/>
            <a:ext cx="5298579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Attendance, Marks, Assignments in one view.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90816" y="3629917"/>
            <a:ext cx="5706219" cy="5706219"/>
            <a:chOff x="0" y="0"/>
            <a:chExt cx="7608292" cy="760829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755731" y="5370165"/>
            <a:ext cx="398710" cy="498276"/>
            <a:chOff x="0" y="0"/>
            <a:chExt cx="531613" cy="66436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531622" cy="664337"/>
            </a:xfrm>
            <a:custGeom>
              <a:avLst/>
              <a:gdLst/>
              <a:ahLst/>
              <a:cxnLst/>
              <a:rect l="l" t="t" r="r" b="b"/>
              <a:pathLst>
                <a:path w="531622" h="664337">
                  <a:moveTo>
                    <a:pt x="0" y="0"/>
                  </a:moveTo>
                  <a:lnTo>
                    <a:pt x="531622" y="0"/>
                  </a:lnTo>
                  <a:lnTo>
                    <a:pt x="531622" y="664337"/>
                  </a:lnTo>
                  <a:lnTo>
                    <a:pt x="0" y="66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9" r="-467" b="-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997035" y="3642717"/>
            <a:ext cx="444073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Multilingual Modal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97035" y="4198590"/>
            <a:ext cx="5298727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Seamless switching between English &amp; Punjabi.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290816" y="3629917"/>
            <a:ext cx="5706219" cy="5706219"/>
            <a:chOff x="0" y="0"/>
            <a:chExt cx="7608292" cy="760829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398496" y="4836319"/>
            <a:ext cx="398710" cy="498276"/>
            <a:chOff x="0" y="0"/>
            <a:chExt cx="531613" cy="664368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531622" cy="664337"/>
            </a:xfrm>
            <a:custGeom>
              <a:avLst/>
              <a:gdLst/>
              <a:ahLst/>
              <a:cxnLst/>
              <a:rect l="l" t="t" r="r" b="b"/>
              <a:pathLst>
                <a:path w="531622" h="664337">
                  <a:moveTo>
                    <a:pt x="0" y="0"/>
                  </a:moveTo>
                  <a:lnTo>
                    <a:pt x="531622" y="0"/>
                  </a:lnTo>
                  <a:lnTo>
                    <a:pt x="531622" y="664337"/>
                  </a:lnTo>
                  <a:lnTo>
                    <a:pt x="0" y="66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9" r="-467" b="-4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2564070" y="5689998"/>
            <a:ext cx="473169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AI Assistant (VidyaBot)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64070" y="6688782"/>
            <a:ext cx="473169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Personalized help and interactive learning.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290816" y="3629917"/>
            <a:ext cx="5706219" cy="5706219"/>
            <a:chOff x="0" y="0"/>
            <a:chExt cx="7608292" cy="7608292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0413801" y="6233815"/>
            <a:ext cx="398710" cy="498276"/>
            <a:chOff x="0" y="0"/>
            <a:chExt cx="531613" cy="664368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531622" cy="664337"/>
            </a:xfrm>
            <a:custGeom>
              <a:avLst/>
              <a:gdLst/>
              <a:ahLst/>
              <a:cxnLst/>
              <a:rect l="l" t="t" r="r" b="b"/>
              <a:pathLst>
                <a:path w="531622" h="664337">
                  <a:moveTo>
                    <a:pt x="0" y="0"/>
                  </a:moveTo>
                  <a:lnTo>
                    <a:pt x="531622" y="0"/>
                  </a:lnTo>
                  <a:lnTo>
                    <a:pt x="531622" y="664337"/>
                  </a:lnTo>
                  <a:lnTo>
                    <a:pt x="0" y="66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9" r="-467" b="-4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1997035" y="8180337"/>
            <a:ext cx="4590009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Interactive Quizzes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97035" y="8736211"/>
            <a:ext cx="5298727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Engaging assessments for better retention.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290816" y="3629917"/>
            <a:ext cx="5706219" cy="5706219"/>
            <a:chOff x="0" y="0"/>
            <a:chExt cx="7608292" cy="7608292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9398496" y="7631311"/>
            <a:ext cx="398710" cy="498276"/>
            <a:chOff x="0" y="0"/>
            <a:chExt cx="531613" cy="664368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531622" cy="664337"/>
            </a:xfrm>
            <a:custGeom>
              <a:avLst/>
              <a:gdLst/>
              <a:ahLst/>
              <a:cxnLst/>
              <a:rect l="l" t="t" r="r" b="b"/>
              <a:pathLst>
                <a:path w="531622" h="664337">
                  <a:moveTo>
                    <a:pt x="0" y="0"/>
                  </a:moveTo>
                  <a:lnTo>
                    <a:pt x="531622" y="0"/>
                  </a:lnTo>
                  <a:lnTo>
                    <a:pt x="531622" y="664337"/>
                  </a:lnTo>
                  <a:lnTo>
                    <a:pt x="0" y="66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69" r="-467" b="-4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2746772" y="7557790"/>
            <a:ext cx="35440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Modern UI/UX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2238" y="8113662"/>
            <a:ext cx="5298579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Clean, intuitive, and office-ready interface.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290816" y="3629917"/>
            <a:ext cx="5706219" cy="5706219"/>
            <a:chOff x="0" y="0"/>
            <a:chExt cx="7608292" cy="7608292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7608316" cy="7608316"/>
            </a:xfrm>
            <a:custGeom>
              <a:avLst/>
              <a:gdLst/>
              <a:ahLst/>
              <a:cxnLst/>
              <a:rect l="l" t="t" r="r" b="b"/>
              <a:pathLst>
                <a:path w="7608316" h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7755731" y="7097465"/>
            <a:ext cx="398710" cy="498276"/>
            <a:chOff x="0" y="0"/>
            <a:chExt cx="531613" cy="664368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531622" cy="664337"/>
            </a:xfrm>
            <a:custGeom>
              <a:avLst/>
              <a:gdLst/>
              <a:ahLst/>
              <a:cxnLst/>
              <a:rect l="l" t="t" r="r" b="b"/>
              <a:pathLst>
                <a:path w="531622" h="664337">
                  <a:moveTo>
                    <a:pt x="0" y="0"/>
                  </a:moveTo>
                  <a:lnTo>
                    <a:pt x="531622" y="0"/>
                  </a:lnTo>
                  <a:lnTo>
                    <a:pt x="531622" y="664337"/>
                  </a:lnTo>
                  <a:lnTo>
                    <a:pt x="0" y="664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69" r="-467" b="-4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99344" y="511374"/>
            <a:ext cx="12580590" cy="66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Architecture &amp; Tech Stack: How It Works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68995" y="1573560"/>
            <a:ext cx="16750010" cy="7223075"/>
            <a:chOff x="0" y="0"/>
            <a:chExt cx="22333347" cy="963076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2333331" cy="9630791"/>
            </a:xfrm>
            <a:custGeom>
              <a:avLst/>
              <a:gdLst/>
              <a:ahLst/>
              <a:cxnLst/>
              <a:rect l="l" t="t" r="r" b="b"/>
              <a:pathLst>
                <a:path w="22333331" h="9630791">
                  <a:moveTo>
                    <a:pt x="0" y="0"/>
                  </a:moveTo>
                  <a:lnTo>
                    <a:pt x="22333331" y="0"/>
                  </a:lnTo>
                  <a:lnTo>
                    <a:pt x="22333331" y="9630791"/>
                  </a:lnTo>
                  <a:lnTo>
                    <a:pt x="0" y="9630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" r="-3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896011" y="7407820"/>
            <a:ext cx="3800057" cy="494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Database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6011" y="5735794"/>
            <a:ext cx="3800057" cy="494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6011" y="4080659"/>
            <a:ext cx="3800057" cy="49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6011" y="2408632"/>
            <a:ext cx="3800057" cy="49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User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9344" y="8699376"/>
            <a:ext cx="2497931" cy="340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9344" y="9173096"/>
            <a:ext cx="3856584" cy="38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HTML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9344" y="9562579"/>
            <a:ext cx="3856584" cy="386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Tailwind CSS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344" y="9952062"/>
            <a:ext cx="3856584" cy="386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JavaScript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53012" y="9197280"/>
            <a:ext cx="2497931" cy="340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53012" y="9671000"/>
            <a:ext cx="3856584" cy="38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Node.js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53012" y="10060484"/>
            <a:ext cx="3856584" cy="386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Python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06681" y="9192517"/>
            <a:ext cx="2497931" cy="340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Database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06681" y="9666237"/>
            <a:ext cx="3856584" cy="38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Firestore (NoSQL)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60351" y="9192517"/>
            <a:ext cx="2497931" cy="340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AI Integration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60351" y="9666237"/>
            <a:ext cx="3856584" cy="38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Copilot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23144" y="451545"/>
            <a:ext cx="11707565" cy="59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UI/UX Design: Designed for Clarity &amp; Trust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3144" y="1513135"/>
            <a:ext cx="10051256" cy="10051256"/>
            <a:chOff x="0" y="0"/>
            <a:chExt cx="13401675" cy="1340167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401675" cy="13401675"/>
            </a:xfrm>
            <a:custGeom>
              <a:avLst/>
              <a:gdLst/>
              <a:ahLst/>
              <a:cxnLst/>
              <a:rect l="l" t="t" r="r" b="b"/>
              <a:pathLst>
                <a:path w="13401675" h="13401675">
                  <a:moveTo>
                    <a:pt x="0" y="0"/>
                  </a:moveTo>
                  <a:lnTo>
                    <a:pt x="13401675" y="0"/>
                  </a:lnTo>
                  <a:lnTo>
                    <a:pt x="13401675" y="13401675"/>
                  </a:lnTo>
                  <a:lnTo>
                    <a:pt x="0" y="13401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118205" y="1415951"/>
            <a:ext cx="6556027" cy="34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Consistent Look &amp; Feel:</a:t>
            </a: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Unified design across all modules.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18205" y="1762869"/>
            <a:ext cx="6556027" cy="34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Responsive Layout:</a:t>
            </a: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Seamless experience on desktop and mobile.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18205" y="2109787"/>
            <a:ext cx="6556027" cy="34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Intuitive Language Switch:</a:t>
            </a: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Easy access to multilingual support.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8205" y="2456706"/>
            <a:ext cx="6556027" cy="34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Clean Aesthetics:</a:t>
            </a: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Modern, professional, and clutter-free.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3144" y="11907590"/>
            <a:ext cx="17041714" cy="285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1E1E1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VidyaSetu</a:t>
            </a:r>
            <a:r>
              <a:rPr lang="en-US" sz="10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ensures an optimal viewing and interaction experience, adapting to any device for maximum accessibility.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13780" y="522685"/>
            <a:ext cx="16040992" cy="67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Inclusive by Design: Multilingual &amp; Accessibility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13780" y="1733252"/>
            <a:ext cx="8181529" cy="8181529"/>
            <a:chOff x="0" y="0"/>
            <a:chExt cx="10908705" cy="1090870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908665" cy="10908665"/>
            </a:xfrm>
            <a:custGeom>
              <a:avLst/>
              <a:gdLst/>
              <a:ahLst/>
              <a:cxnLst/>
              <a:rect l="l" t="t" r="r" b="b"/>
              <a:pathLst>
                <a:path w="10908665" h="10908665">
                  <a:moveTo>
                    <a:pt x="0" y="0"/>
                  </a:moveTo>
                  <a:lnTo>
                    <a:pt x="10908665" y="0"/>
                  </a:lnTo>
                  <a:lnTo>
                    <a:pt x="10908665" y="10908665"/>
                  </a:lnTo>
                  <a:lnTo>
                    <a:pt x="0" y="1090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402216" y="1611214"/>
            <a:ext cx="8181529" cy="40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Multilingual Support:</a:t>
            </a: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Currently supports English and Punjabi, bridging communication gaps.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2216" y="2008734"/>
            <a:ext cx="8181529" cy="40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Future-Ready:</a:t>
            </a: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Planned expansion to include Hindi, Marathi, and other regional languages.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02216" y="2406252"/>
            <a:ext cx="8181529" cy="40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Accessible Fonts &amp; Contrast:</a:t>
            </a: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Designed with readability in mind for all users.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02216" y="2803772"/>
            <a:ext cx="8181529" cy="40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1562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Inclusive Learning:</a:t>
            </a:r>
            <a:r>
              <a:rPr lang="en-US" sz="156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Ensures no student is left behind due to language or accessibility barriers.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3780" y="10316319"/>
            <a:ext cx="16860441" cy="318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249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commitment to inclusivity ensures that VidyaSetu caters to a diverse user base, fostering a truly accessible learning environment.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42938" y="467022"/>
            <a:ext cx="13118009" cy="612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Engagement Features: Making Learning Joyful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42938" y="1561207"/>
            <a:ext cx="6559004" cy="6559004"/>
            <a:chOff x="0" y="0"/>
            <a:chExt cx="11036102" cy="1103610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036046" cy="11036046"/>
            </a:xfrm>
            <a:custGeom>
              <a:avLst/>
              <a:gdLst/>
              <a:ahLst/>
              <a:cxnLst/>
              <a:rect l="l" t="t" r="r" b="b"/>
              <a:pathLst>
                <a:path w="11036046" h="11036046">
                  <a:moveTo>
                    <a:pt x="0" y="0"/>
                  </a:moveTo>
                  <a:lnTo>
                    <a:pt x="11036046" y="0"/>
                  </a:lnTo>
                  <a:lnTo>
                    <a:pt x="11036046" y="11036046"/>
                  </a:lnTo>
                  <a:lnTo>
                    <a:pt x="0" y="11036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42938" y="8567887"/>
            <a:ext cx="2819549" cy="32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VidyaBot Assistant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2938" y="9009907"/>
            <a:ext cx="8277076" cy="36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Personalized guidance and instant answers.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77511" y="1561207"/>
            <a:ext cx="6559004" cy="6559004"/>
            <a:chOff x="0" y="0"/>
            <a:chExt cx="11036102" cy="1103610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1036046" cy="11036046"/>
            </a:xfrm>
            <a:custGeom>
              <a:avLst/>
              <a:gdLst/>
              <a:ahLst/>
              <a:cxnLst/>
              <a:rect l="l" t="t" r="r" b="b"/>
              <a:pathLst>
                <a:path w="11036046" h="11036046">
                  <a:moveTo>
                    <a:pt x="0" y="0"/>
                  </a:moveTo>
                  <a:lnTo>
                    <a:pt x="11036046" y="0"/>
                  </a:lnTo>
                  <a:lnTo>
                    <a:pt x="11036046" y="11036046"/>
                  </a:lnTo>
                  <a:lnTo>
                    <a:pt x="0" y="11036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377511" y="8567887"/>
            <a:ext cx="2973884" cy="32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75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Interactive Quizzes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7511" y="9009907"/>
            <a:ext cx="8277076" cy="36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 and engaging ways to test knowledge.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2938" y="9675466"/>
            <a:ext cx="17002125" cy="360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VidyaSetu integrates features that actively involve students, making education a dynamic and enjoyable experience, promoting better retention and understanding.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59606" y="470595"/>
            <a:ext cx="10298460" cy="63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Quiz Module: Interactive Learning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59606" y="1601689"/>
            <a:ext cx="6531235" cy="6531235"/>
            <a:chOff x="0" y="0"/>
            <a:chExt cx="11006138" cy="1100613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006201" cy="11006201"/>
            </a:xfrm>
            <a:custGeom>
              <a:avLst/>
              <a:gdLst/>
              <a:ahLst/>
              <a:cxnLst/>
              <a:rect l="l" t="t" r="r" b="b"/>
              <a:pathLst>
                <a:path w="11006201" h="11006201">
                  <a:moveTo>
                    <a:pt x="0" y="0"/>
                  </a:moveTo>
                  <a:lnTo>
                    <a:pt x="11006201" y="0"/>
                  </a:lnTo>
                  <a:lnTo>
                    <a:pt x="11006201" y="11006201"/>
                  </a:lnTo>
                  <a:lnTo>
                    <a:pt x="0" y="1100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59606" y="8436024"/>
            <a:ext cx="2709565" cy="33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Card-based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9606" y="8890247"/>
            <a:ext cx="8254604" cy="368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Clean and intuitive interface for questions.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83316" y="1601689"/>
            <a:ext cx="6531235" cy="6531235"/>
            <a:chOff x="0" y="0"/>
            <a:chExt cx="11006138" cy="1100613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1006201" cy="11006201"/>
            </a:xfrm>
            <a:custGeom>
              <a:avLst/>
              <a:gdLst/>
              <a:ahLst/>
              <a:cxnLst/>
              <a:rect l="l" t="t" r="r" b="b"/>
              <a:pathLst>
                <a:path w="11006201" h="11006201">
                  <a:moveTo>
                    <a:pt x="0" y="0"/>
                  </a:moveTo>
                  <a:lnTo>
                    <a:pt x="11006201" y="0"/>
                  </a:lnTo>
                  <a:lnTo>
                    <a:pt x="11006201" y="11006201"/>
                  </a:lnTo>
                  <a:lnTo>
                    <a:pt x="0" y="1100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383316" y="8436024"/>
            <a:ext cx="3896916" cy="33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Instant Feedback &amp; Review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6907" y="710356"/>
            <a:ext cx="16334185" cy="180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Innovation &amp; Impact: Why We Stand Out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6907" y="3488977"/>
            <a:ext cx="8027491" cy="2064990"/>
            <a:chOff x="0" y="0"/>
            <a:chExt cx="10703322" cy="27533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03306" cy="2753360"/>
            </a:xfrm>
            <a:custGeom>
              <a:avLst/>
              <a:gdLst/>
              <a:ahLst/>
              <a:cxnLst/>
              <a:rect l="l" t="t" r="r" b="b"/>
              <a:pathLst>
                <a:path w="10703306" h="27533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59466" y="0"/>
                  </a:lnTo>
                  <a:cubicBezTo>
                    <a:pt x="10594086" y="0"/>
                    <a:pt x="10703306" y="109220"/>
                    <a:pt x="10703306" y="243840"/>
                  </a:cubicBezTo>
                  <a:lnTo>
                    <a:pt x="10703306" y="2509520"/>
                  </a:lnTo>
                  <a:cubicBezTo>
                    <a:pt x="10703306" y="2644140"/>
                    <a:pt x="10594086" y="2753360"/>
                    <a:pt x="10459466" y="2753360"/>
                  </a:cubicBezTo>
                  <a:lnTo>
                    <a:pt x="243840" y="2753360"/>
                  </a:lnTo>
                  <a:cubicBezTo>
                    <a:pt x="109220" y="2753360"/>
                    <a:pt x="0" y="2644140"/>
                    <a:pt x="0" y="2509520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6907" y="3450877"/>
            <a:ext cx="8027491" cy="152400"/>
            <a:chOff x="0" y="0"/>
            <a:chExt cx="10703322" cy="203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03433" cy="203200"/>
            </a:xfrm>
            <a:custGeom>
              <a:avLst/>
              <a:gdLst/>
              <a:ahLst/>
              <a:cxnLst/>
              <a:rect l="l" t="t" r="r" b="b"/>
              <a:pathLst>
                <a:path w="10703433" h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0647553" y="0"/>
                  </a:lnTo>
                  <a:cubicBezTo>
                    <a:pt x="10678414" y="0"/>
                    <a:pt x="10703433" y="25019"/>
                    <a:pt x="10703433" y="55880"/>
                  </a:cubicBezTo>
                  <a:lnTo>
                    <a:pt x="10703433" y="147320"/>
                  </a:lnTo>
                  <a:cubicBezTo>
                    <a:pt x="10703433" y="178181"/>
                    <a:pt x="10678414" y="203200"/>
                    <a:pt x="10647553" y="203200"/>
                  </a:cubicBezTo>
                  <a:lnTo>
                    <a:pt x="55880" y="203200"/>
                  </a:lnTo>
                  <a:cubicBezTo>
                    <a:pt x="25019" y="203200"/>
                    <a:pt x="0" y="178181"/>
                    <a:pt x="0" y="147320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572000" y="3070324"/>
            <a:ext cx="837307" cy="837307"/>
            <a:chOff x="0" y="0"/>
            <a:chExt cx="1116410" cy="11164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6457" cy="1116457"/>
            </a:xfrm>
            <a:custGeom>
              <a:avLst/>
              <a:gdLst/>
              <a:ahLst/>
              <a:cxnLst/>
              <a:rect l="l" t="t" r="r" b="b"/>
              <a:pathLst>
                <a:path w="1116457" h="1116457">
                  <a:moveTo>
                    <a:pt x="0" y="558165"/>
                  </a:moveTo>
                  <a:cubicBezTo>
                    <a:pt x="0" y="249936"/>
                    <a:pt x="249936" y="0"/>
                    <a:pt x="558165" y="0"/>
                  </a:cubicBezTo>
                  <a:cubicBezTo>
                    <a:pt x="866394" y="0"/>
                    <a:pt x="1116457" y="249936"/>
                    <a:pt x="1116457" y="558165"/>
                  </a:cubicBezTo>
                  <a:cubicBezTo>
                    <a:pt x="1116457" y="866394"/>
                    <a:pt x="866521" y="1116457"/>
                    <a:pt x="558165" y="1116457"/>
                  </a:cubicBezTo>
                  <a:cubicBezTo>
                    <a:pt x="249809" y="1116457"/>
                    <a:pt x="0" y="866521"/>
                    <a:pt x="0" y="55816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823222" y="3279576"/>
            <a:ext cx="334864" cy="418654"/>
            <a:chOff x="0" y="0"/>
            <a:chExt cx="446485" cy="558205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446532" cy="558165"/>
            </a:xfrm>
            <a:custGeom>
              <a:avLst/>
              <a:gdLst/>
              <a:ahLst/>
              <a:cxnLst/>
              <a:rect l="l" t="t" r="r" b="b"/>
              <a:pathLst>
                <a:path w="446532" h="558165">
                  <a:moveTo>
                    <a:pt x="0" y="0"/>
                  </a:moveTo>
                  <a:lnTo>
                    <a:pt x="446532" y="0"/>
                  </a:lnTo>
                  <a:lnTo>
                    <a:pt x="446532" y="558165"/>
                  </a:lnTo>
                  <a:lnTo>
                    <a:pt x="0" y="558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6" r="10" b="-284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294060" y="4158109"/>
            <a:ext cx="5693271" cy="46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Blends Design &amp; Structure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4060" y="4694932"/>
            <a:ext cx="7393186" cy="54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Aesthetic appeal meets robust functionality.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83452" y="3488977"/>
            <a:ext cx="8027640" cy="2064990"/>
            <a:chOff x="0" y="0"/>
            <a:chExt cx="10703520" cy="27533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03560" cy="2753360"/>
            </a:xfrm>
            <a:custGeom>
              <a:avLst/>
              <a:gdLst/>
              <a:ahLst/>
              <a:cxnLst/>
              <a:rect l="l" t="t" r="r" b="b"/>
              <a:pathLst>
                <a:path w="10703560" h="27533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59720" y="0"/>
                  </a:lnTo>
                  <a:cubicBezTo>
                    <a:pt x="10594339" y="0"/>
                    <a:pt x="10703560" y="109220"/>
                    <a:pt x="10703560" y="243840"/>
                  </a:cubicBezTo>
                  <a:lnTo>
                    <a:pt x="10703560" y="2509520"/>
                  </a:lnTo>
                  <a:cubicBezTo>
                    <a:pt x="10703560" y="2644140"/>
                    <a:pt x="10594339" y="2753360"/>
                    <a:pt x="10459720" y="2753360"/>
                  </a:cubicBezTo>
                  <a:lnTo>
                    <a:pt x="243840" y="2753360"/>
                  </a:lnTo>
                  <a:cubicBezTo>
                    <a:pt x="109220" y="2753360"/>
                    <a:pt x="0" y="2644140"/>
                    <a:pt x="0" y="2509520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283452" y="3450877"/>
            <a:ext cx="8027640" cy="152400"/>
            <a:chOff x="0" y="0"/>
            <a:chExt cx="10703520" cy="20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03560" cy="203200"/>
            </a:xfrm>
            <a:custGeom>
              <a:avLst/>
              <a:gdLst/>
              <a:ahLst/>
              <a:cxnLst/>
              <a:rect l="l" t="t" r="r" b="b"/>
              <a:pathLst>
                <a:path w="10703560" h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0647680" y="0"/>
                  </a:lnTo>
                  <a:cubicBezTo>
                    <a:pt x="10678541" y="0"/>
                    <a:pt x="10703560" y="25019"/>
                    <a:pt x="10703560" y="55880"/>
                  </a:cubicBezTo>
                  <a:lnTo>
                    <a:pt x="10703560" y="147320"/>
                  </a:lnTo>
                  <a:cubicBezTo>
                    <a:pt x="10703560" y="178181"/>
                    <a:pt x="10678541" y="203200"/>
                    <a:pt x="10647680" y="203200"/>
                  </a:cubicBezTo>
                  <a:lnTo>
                    <a:pt x="55880" y="203200"/>
                  </a:lnTo>
                  <a:cubicBezTo>
                    <a:pt x="25019" y="203200"/>
                    <a:pt x="0" y="178181"/>
                    <a:pt x="0" y="147320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2878544" y="3070324"/>
            <a:ext cx="837308" cy="837307"/>
            <a:chOff x="0" y="0"/>
            <a:chExt cx="1116410" cy="11164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16457" cy="1116457"/>
            </a:xfrm>
            <a:custGeom>
              <a:avLst/>
              <a:gdLst/>
              <a:ahLst/>
              <a:cxnLst/>
              <a:rect l="l" t="t" r="r" b="b"/>
              <a:pathLst>
                <a:path w="1116457" h="1116457">
                  <a:moveTo>
                    <a:pt x="0" y="558165"/>
                  </a:moveTo>
                  <a:cubicBezTo>
                    <a:pt x="0" y="249936"/>
                    <a:pt x="249936" y="0"/>
                    <a:pt x="558165" y="0"/>
                  </a:cubicBezTo>
                  <a:cubicBezTo>
                    <a:pt x="866394" y="0"/>
                    <a:pt x="1116457" y="249936"/>
                    <a:pt x="1116457" y="558165"/>
                  </a:cubicBezTo>
                  <a:cubicBezTo>
                    <a:pt x="1116457" y="866394"/>
                    <a:pt x="866521" y="1116457"/>
                    <a:pt x="558165" y="1116457"/>
                  </a:cubicBezTo>
                  <a:cubicBezTo>
                    <a:pt x="249809" y="1116457"/>
                    <a:pt x="0" y="866521"/>
                    <a:pt x="0" y="55816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3129766" y="3279576"/>
            <a:ext cx="334864" cy="418654"/>
            <a:chOff x="0" y="0"/>
            <a:chExt cx="446485" cy="558205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446532" cy="558165"/>
            </a:xfrm>
            <a:custGeom>
              <a:avLst/>
              <a:gdLst/>
              <a:ahLst/>
              <a:cxnLst/>
              <a:rect l="l" t="t" r="r" b="b"/>
              <a:pathLst>
                <a:path w="446532" h="558165">
                  <a:moveTo>
                    <a:pt x="0" y="0"/>
                  </a:moveTo>
                  <a:lnTo>
                    <a:pt x="446532" y="0"/>
                  </a:lnTo>
                  <a:lnTo>
                    <a:pt x="446532" y="558165"/>
                  </a:lnTo>
                  <a:lnTo>
                    <a:pt x="0" y="558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6" r="10" b="-284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9600605" y="4158109"/>
            <a:ext cx="4795094" cy="46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Scalable &amp; Accessible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0605" y="4694932"/>
            <a:ext cx="7393335" cy="54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Designed for growth and diverse user needs.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76907" y="6251674"/>
            <a:ext cx="8027491" cy="2064990"/>
            <a:chOff x="0" y="0"/>
            <a:chExt cx="10703322" cy="27533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703306" cy="2753360"/>
            </a:xfrm>
            <a:custGeom>
              <a:avLst/>
              <a:gdLst/>
              <a:ahLst/>
              <a:cxnLst/>
              <a:rect l="l" t="t" r="r" b="b"/>
              <a:pathLst>
                <a:path w="10703306" h="27533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59466" y="0"/>
                  </a:lnTo>
                  <a:cubicBezTo>
                    <a:pt x="10594086" y="0"/>
                    <a:pt x="10703306" y="109220"/>
                    <a:pt x="10703306" y="243840"/>
                  </a:cubicBezTo>
                  <a:lnTo>
                    <a:pt x="10703306" y="2509520"/>
                  </a:lnTo>
                  <a:cubicBezTo>
                    <a:pt x="10703306" y="2644140"/>
                    <a:pt x="10594086" y="2753360"/>
                    <a:pt x="10459466" y="2753360"/>
                  </a:cubicBezTo>
                  <a:lnTo>
                    <a:pt x="243840" y="2753360"/>
                  </a:lnTo>
                  <a:cubicBezTo>
                    <a:pt x="109220" y="2753360"/>
                    <a:pt x="0" y="2644140"/>
                    <a:pt x="0" y="2509520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76907" y="6213574"/>
            <a:ext cx="8027491" cy="152400"/>
            <a:chOff x="0" y="0"/>
            <a:chExt cx="10703322" cy="203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03433" cy="203200"/>
            </a:xfrm>
            <a:custGeom>
              <a:avLst/>
              <a:gdLst/>
              <a:ahLst/>
              <a:cxnLst/>
              <a:rect l="l" t="t" r="r" b="b"/>
              <a:pathLst>
                <a:path w="10703433" h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0647553" y="0"/>
                  </a:lnTo>
                  <a:cubicBezTo>
                    <a:pt x="10678414" y="0"/>
                    <a:pt x="10703433" y="25019"/>
                    <a:pt x="10703433" y="55880"/>
                  </a:cubicBezTo>
                  <a:lnTo>
                    <a:pt x="10703433" y="147320"/>
                  </a:lnTo>
                  <a:cubicBezTo>
                    <a:pt x="10703433" y="178181"/>
                    <a:pt x="10678414" y="203200"/>
                    <a:pt x="10647553" y="203200"/>
                  </a:cubicBezTo>
                  <a:lnTo>
                    <a:pt x="55880" y="203200"/>
                  </a:lnTo>
                  <a:cubicBezTo>
                    <a:pt x="25019" y="203200"/>
                    <a:pt x="0" y="178181"/>
                    <a:pt x="0" y="147320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4572000" y="5833021"/>
            <a:ext cx="837307" cy="837307"/>
            <a:chOff x="0" y="0"/>
            <a:chExt cx="1116410" cy="11164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16457" cy="1116457"/>
            </a:xfrm>
            <a:custGeom>
              <a:avLst/>
              <a:gdLst/>
              <a:ahLst/>
              <a:cxnLst/>
              <a:rect l="l" t="t" r="r" b="b"/>
              <a:pathLst>
                <a:path w="1116457" h="1116457">
                  <a:moveTo>
                    <a:pt x="0" y="558165"/>
                  </a:moveTo>
                  <a:cubicBezTo>
                    <a:pt x="0" y="249936"/>
                    <a:pt x="249936" y="0"/>
                    <a:pt x="558165" y="0"/>
                  </a:cubicBezTo>
                  <a:cubicBezTo>
                    <a:pt x="866394" y="0"/>
                    <a:pt x="1116457" y="249936"/>
                    <a:pt x="1116457" y="558165"/>
                  </a:cubicBezTo>
                  <a:cubicBezTo>
                    <a:pt x="1116457" y="866394"/>
                    <a:pt x="866521" y="1116457"/>
                    <a:pt x="558165" y="1116457"/>
                  </a:cubicBezTo>
                  <a:cubicBezTo>
                    <a:pt x="249809" y="1116457"/>
                    <a:pt x="0" y="866521"/>
                    <a:pt x="0" y="55816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4823222" y="6042272"/>
            <a:ext cx="334864" cy="418654"/>
            <a:chOff x="0" y="0"/>
            <a:chExt cx="446485" cy="558205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446532" cy="558165"/>
            </a:xfrm>
            <a:custGeom>
              <a:avLst/>
              <a:gdLst/>
              <a:ahLst/>
              <a:cxnLst/>
              <a:rect l="l" t="t" r="r" b="b"/>
              <a:pathLst>
                <a:path w="446532" h="558165">
                  <a:moveTo>
                    <a:pt x="0" y="0"/>
                  </a:moveTo>
                  <a:lnTo>
                    <a:pt x="446532" y="0"/>
                  </a:lnTo>
                  <a:lnTo>
                    <a:pt x="446532" y="558165"/>
                  </a:lnTo>
                  <a:lnTo>
                    <a:pt x="0" y="558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6" r="10" b="-284"/>
              </a:stretch>
            </a:blipFill>
          </p:spPr>
        </p:sp>
      </p:grpSp>
      <p:sp>
        <p:nvSpPr>
          <p:cNvPr id="35" name="TextBox 35"/>
          <p:cNvSpPr txBox="1"/>
          <p:nvPr/>
        </p:nvSpPr>
        <p:spPr>
          <a:xfrm>
            <a:off x="1294060" y="6920805"/>
            <a:ext cx="4762202" cy="46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AI-Powered Assistant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94060" y="7457629"/>
            <a:ext cx="7393186" cy="54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Personalized support with VidyaBot.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283452" y="6251674"/>
            <a:ext cx="8027640" cy="2064990"/>
            <a:chOff x="0" y="0"/>
            <a:chExt cx="10703520" cy="27533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703560" cy="2753360"/>
            </a:xfrm>
            <a:custGeom>
              <a:avLst/>
              <a:gdLst/>
              <a:ahLst/>
              <a:cxnLst/>
              <a:rect l="l" t="t" r="r" b="b"/>
              <a:pathLst>
                <a:path w="10703560" h="275336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59720" y="0"/>
                  </a:lnTo>
                  <a:cubicBezTo>
                    <a:pt x="10594339" y="0"/>
                    <a:pt x="10703560" y="109220"/>
                    <a:pt x="10703560" y="243840"/>
                  </a:cubicBezTo>
                  <a:lnTo>
                    <a:pt x="10703560" y="2509520"/>
                  </a:lnTo>
                  <a:cubicBezTo>
                    <a:pt x="10703560" y="2644140"/>
                    <a:pt x="10594339" y="2753360"/>
                    <a:pt x="10459720" y="2753360"/>
                  </a:cubicBezTo>
                  <a:lnTo>
                    <a:pt x="243840" y="2753360"/>
                  </a:lnTo>
                  <a:cubicBezTo>
                    <a:pt x="109220" y="2753360"/>
                    <a:pt x="0" y="2644140"/>
                    <a:pt x="0" y="2509520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283452" y="6213574"/>
            <a:ext cx="8027640" cy="152400"/>
            <a:chOff x="0" y="0"/>
            <a:chExt cx="10703520" cy="203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703560" cy="203200"/>
            </a:xfrm>
            <a:custGeom>
              <a:avLst/>
              <a:gdLst/>
              <a:ahLst/>
              <a:cxnLst/>
              <a:rect l="l" t="t" r="r" b="b"/>
              <a:pathLst>
                <a:path w="10703560" h="203200">
                  <a:moveTo>
                    <a:pt x="0" y="55880"/>
                  </a:moveTo>
                  <a:cubicBezTo>
                    <a:pt x="0" y="25019"/>
                    <a:pt x="25019" y="0"/>
                    <a:pt x="55880" y="0"/>
                  </a:cubicBezTo>
                  <a:lnTo>
                    <a:pt x="10647680" y="0"/>
                  </a:lnTo>
                  <a:cubicBezTo>
                    <a:pt x="10678541" y="0"/>
                    <a:pt x="10703560" y="25019"/>
                    <a:pt x="10703560" y="55880"/>
                  </a:cubicBezTo>
                  <a:lnTo>
                    <a:pt x="10703560" y="147320"/>
                  </a:lnTo>
                  <a:cubicBezTo>
                    <a:pt x="10703560" y="178181"/>
                    <a:pt x="10678541" y="203200"/>
                    <a:pt x="10647680" y="203200"/>
                  </a:cubicBezTo>
                  <a:lnTo>
                    <a:pt x="55880" y="203200"/>
                  </a:lnTo>
                  <a:cubicBezTo>
                    <a:pt x="25019" y="203200"/>
                    <a:pt x="0" y="178181"/>
                    <a:pt x="0" y="147320"/>
                  </a:cubicBezTo>
                  <a:close/>
                </a:path>
              </a:pathLst>
            </a:custGeom>
            <a:solidFill>
              <a:srgbClr val="C8CAC1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878544" y="5833021"/>
            <a:ext cx="837308" cy="837307"/>
            <a:chOff x="0" y="0"/>
            <a:chExt cx="1116410" cy="111641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16457" cy="1116457"/>
            </a:xfrm>
            <a:custGeom>
              <a:avLst/>
              <a:gdLst/>
              <a:ahLst/>
              <a:cxnLst/>
              <a:rect l="l" t="t" r="r" b="b"/>
              <a:pathLst>
                <a:path w="1116457" h="1116457">
                  <a:moveTo>
                    <a:pt x="0" y="558165"/>
                  </a:moveTo>
                  <a:cubicBezTo>
                    <a:pt x="0" y="249936"/>
                    <a:pt x="249936" y="0"/>
                    <a:pt x="558165" y="0"/>
                  </a:cubicBezTo>
                  <a:cubicBezTo>
                    <a:pt x="866394" y="0"/>
                    <a:pt x="1116457" y="249936"/>
                    <a:pt x="1116457" y="558165"/>
                  </a:cubicBezTo>
                  <a:cubicBezTo>
                    <a:pt x="1116457" y="866394"/>
                    <a:pt x="866521" y="1116457"/>
                    <a:pt x="558165" y="1116457"/>
                  </a:cubicBezTo>
                  <a:cubicBezTo>
                    <a:pt x="249809" y="1116457"/>
                    <a:pt x="0" y="866521"/>
                    <a:pt x="0" y="558165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3129766" y="6042272"/>
            <a:ext cx="334864" cy="418654"/>
            <a:chOff x="0" y="0"/>
            <a:chExt cx="446485" cy="558205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446532" cy="558165"/>
            </a:xfrm>
            <a:custGeom>
              <a:avLst/>
              <a:gdLst/>
              <a:ahLst/>
              <a:cxnLst/>
              <a:rect l="l" t="t" r="r" b="b"/>
              <a:pathLst>
                <a:path w="446532" h="558165">
                  <a:moveTo>
                    <a:pt x="0" y="0"/>
                  </a:moveTo>
                  <a:lnTo>
                    <a:pt x="446532" y="0"/>
                  </a:lnTo>
                  <a:lnTo>
                    <a:pt x="446532" y="558165"/>
                  </a:lnTo>
                  <a:lnTo>
                    <a:pt x="0" y="558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6" r="10" b="-284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9600605" y="6920805"/>
            <a:ext cx="5623917" cy="464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Designed for All Learners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00605" y="7457629"/>
            <a:ext cx="7393335" cy="54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Empowering both rural and urban students.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6907" y="8535441"/>
            <a:ext cx="16334185" cy="98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VidyaSetu is more than just a platform; it's a commitment to revolutionizing education through thoughtful design, cutting-edge technology, and inclusive principles.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03821" y="765721"/>
            <a:ext cx="12625239" cy="765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Roadmap &amp; Scalability: What's Next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29712" y="1990279"/>
            <a:ext cx="28575" cy="6857702"/>
            <a:chOff x="0" y="0"/>
            <a:chExt cx="38100" cy="91436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100" cy="9143619"/>
            </a:xfrm>
            <a:custGeom>
              <a:avLst/>
              <a:gdLst/>
              <a:ahLst/>
              <a:cxnLst/>
              <a:rect l="l" t="t" r="r" b="b"/>
              <a:pathLst>
                <a:path w="38100" h="914361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124569"/>
                  </a:lnTo>
                  <a:cubicBezTo>
                    <a:pt x="38100" y="9135110"/>
                    <a:pt x="29591" y="9143619"/>
                    <a:pt x="19050" y="9143619"/>
                  </a:cubicBezTo>
                  <a:cubicBezTo>
                    <a:pt x="8509" y="9143619"/>
                    <a:pt x="0" y="9135110"/>
                    <a:pt x="0" y="912456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225284" y="2234356"/>
            <a:ext cx="688925" cy="28575"/>
            <a:chOff x="0" y="0"/>
            <a:chExt cx="918567" cy="38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8591" cy="38100"/>
            </a:xfrm>
            <a:custGeom>
              <a:avLst/>
              <a:gdLst/>
              <a:ahLst/>
              <a:cxnLst/>
              <a:rect l="l" t="t" r="r" b="b"/>
              <a:pathLst>
                <a:path w="91859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99541" y="0"/>
                  </a:lnTo>
                  <a:cubicBezTo>
                    <a:pt x="910082" y="0"/>
                    <a:pt x="918591" y="8509"/>
                    <a:pt x="918591" y="19050"/>
                  </a:cubicBezTo>
                  <a:cubicBezTo>
                    <a:pt x="918591" y="29591"/>
                    <a:pt x="910082" y="38100"/>
                    <a:pt x="8995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EB0A7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885635" y="1990279"/>
            <a:ext cx="516731" cy="516731"/>
            <a:chOff x="0" y="0"/>
            <a:chExt cx="688975" cy="6889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8975" cy="688975"/>
            </a:xfrm>
            <a:custGeom>
              <a:avLst/>
              <a:gdLst/>
              <a:ahLst/>
              <a:cxnLst/>
              <a:rect l="l" t="t" r="r" b="b"/>
              <a:pathLst>
                <a:path w="688975" h="688975">
                  <a:moveTo>
                    <a:pt x="0" y="45974"/>
                  </a:moveTo>
                  <a:cubicBezTo>
                    <a:pt x="0" y="20574"/>
                    <a:pt x="20574" y="0"/>
                    <a:pt x="45974" y="0"/>
                  </a:cubicBezTo>
                  <a:lnTo>
                    <a:pt x="643001" y="0"/>
                  </a:lnTo>
                  <a:cubicBezTo>
                    <a:pt x="668401" y="0"/>
                    <a:pt x="688975" y="20574"/>
                    <a:pt x="688975" y="45974"/>
                  </a:cubicBezTo>
                  <a:lnTo>
                    <a:pt x="688975" y="643001"/>
                  </a:lnTo>
                  <a:cubicBezTo>
                    <a:pt x="688975" y="668401"/>
                    <a:pt x="668401" y="688975"/>
                    <a:pt x="643001" y="688975"/>
                  </a:cubicBezTo>
                  <a:lnTo>
                    <a:pt x="45974" y="688975"/>
                  </a:lnTo>
                  <a:cubicBezTo>
                    <a:pt x="20574" y="688975"/>
                    <a:pt x="0" y="668401"/>
                    <a:pt x="0" y="64300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8971806" y="2071464"/>
            <a:ext cx="344389" cy="39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56646" y="2040583"/>
            <a:ext cx="3638996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2"/>
              </a:lnSpc>
            </a:pPr>
            <a:r>
              <a:rPr lang="en-US" sz="2249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Language Expansion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3821" y="2489448"/>
            <a:ext cx="7191821" cy="44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4"/>
              </a:lnSpc>
            </a:pPr>
            <a:r>
              <a:rPr lang="en-US" sz="175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Integrate Hindi, Marathi, and other regional languages.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73791" y="3612356"/>
            <a:ext cx="688925" cy="28575"/>
            <a:chOff x="0" y="0"/>
            <a:chExt cx="918567" cy="38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8591" cy="38100"/>
            </a:xfrm>
            <a:custGeom>
              <a:avLst/>
              <a:gdLst/>
              <a:ahLst/>
              <a:cxnLst/>
              <a:rect l="l" t="t" r="r" b="b"/>
              <a:pathLst>
                <a:path w="91859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99541" y="0"/>
                  </a:lnTo>
                  <a:cubicBezTo>
                    <a:pt x="910082" y="0"/>
                    <a:pt x="918591" y="8509"/>
                    <a:pt x="918591" y="19050"/>
                  </a:cubicBezTo>
                  <a:cubicBezTo>
                    <a:pt x="918591" y="29591"/>
                    <a:pt x="910082" y="38100"/>
                    <a:pt x="8995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EB0A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8885635" y="3368279"/>
            <a:ext cx="516731" cy="516731"/>
            <a:chOff x="0" y="0"/>
            <a:chExt cx="688975" cy="6889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8975" cy="688975"/>
            </a:xfrm>
            <a:custGeom>
              <a:avLst/>
              <a:gdLst/>
              <a:ahLst/>
              <a:cxnLst/>
              <a:rect l="l" t="t" r="r" b="b"/>
              <a:pathLst>
                <a:path w="688975" h="688975">
                  <a:moveTo>
                    <a:pt x="0" y="45974"/>
                  </a:moveTo>
                  <a:cubicBezTo>
                    <a:pt x="0" y="20574"/>
                    <a:pt x="20574" y="0"/>
                    <a:pt x="45974" y="0"/>
                  </a:cubicBezTo>
                  <a:lnTo>
                    <a:pt x="643001" y="0"/>
                  </a:lnTo>
                  <a:cubicBezTo>
                    <a:pt x="668401" y="0"/>
                    <a:pt x="688975" y="20574"/>
                    <a:pt x="688975" y="45974"/>
                  </a:cubicBezTo>
                  <a:lnTo>
                    <a:pt x="688975" y="643001"/>
                  </a:lnTo>
                  <a:cubicBezTo>
                    <a:pt x="688975" y="668401"/>
                    <a:pt x="668401" y="688975"/>
                    <a:pt x="643001" y="688975"/>
                  </a:cubicBezTo>
                  <a:lnTo>
                    <a:pt x="45974" y="688975"/>
                  </a:lnTo>
                  <a:cubicBezTo>
                    <a:pt x="20574" y="688975"/>
                    <a:pt x="0" y="668401"/>
                    <a:pt x="0" y="64300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971806" y="3449464"/>
            <a:ext cx="344389" cy="39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92357" y="3418582"/>
            <a:ext cx="2870895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Advanced AI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92357" y="3867448"/>
            <a:ext cx="7191821" cy="44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5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Enhanced VidyaBot features and predictive analytics.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225284" y="4800154"/>
            <a:ext cx="688925" cy="28575"/>
            <a:chOff x="0" y="0"/>
            <a:chExt cx="918567" cy="38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8591" cy="38100"/>
            </a:xfrm>
            <a:custGeom>
              <a:avLst/>
              <a:gdLst/>
              <a:ahLst/>
              <a:cxnLst/>
              <a:rect l="l" t="t" r="r" b="b"/>
              <a:pathLst>
                <a:path w="91859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99541" y="0"/>
                  </a:lnTo>
                  <a:cubicBezTo>
                    <a:pt x="910082" y="0"/>
                    <a:pt x="918591" y="8509"/>
                    <a:pt x="918591" y="19050"/>
                  </a:cubicBezTo>
                  <a:cubicBezTo>
                    <a:pt x="918591" y="29591"/>
                    <a:pt x="910082" y="38100"/>
                    <a:pt x="8995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EB0A7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8885635" y="4556075"/>
            <a:ext cx="516731" cy="516731"/>
            <a:chOff x="0" y="0"/>
            <a:chExt cx="688975" cy="6889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88975" cy="688975"/>
            </a:xfrm>
            <a:custGeom>
              <a:avLst/>
              <a:gdLst/>
              <a:ahLst/>
              <a:cxnLst/>
              <a:rect l="l" t="t" r="r" b="b"/>
              <a:pathLst>
                <a:path w="688975" h="688975">
                  <a:moveTo>
                    <a:pt x="0" y="45974"/>
                  </a:moveTo>
                  <a:cubicBezTo>
                    <a:pt x="0" y="20574"/>
                    <a:pt x="20574" y="0"/>
                    <a:pt x="45974" y="0"/>
                  </a:cubicBezTo>
                  <a:lnTo>
                    <a:pt x="643001" y="0"/>
                  </a:lnTo>
                  <a:cubicBezTo>
                    <a:pt x="668401" y="0"/>
                    <a:pt x="688975" y="20574"/>
                    <a:pt x="688975" y="45974"/>
                  </a:cubicBezTo>
                  <a:lnTo>
                    <a:pt x="688975" y="643001"/>
                  </a:lnTo>
                  <a:cubicBezTo>
                    <a:pt x="688975" y="668401"/>
                    <a:pt x="668401" y="688975"/>
                    <a:pt x="643001" y="688975"/>
                  </a:cubicBezTo>
                  <a:lnTo>
                    <a:pt x="45974" y="688975"/>
                  </a:lnTo>
                  <a:cubicBezTo>
                    <a:pt x="20574" y="688975"/>
                    <a:pt x="0" y="668401"/>
                    <a:pt x="0" y="64300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971806" y="4637261"/>
            <a:ext cx="344389" cy="39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866555" y="4606379"/>
            <a:ext cx="4129088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2"/>
              </a:lnSpc>
            </a:pPr>
            <a:r>
              <a:rPr lang="en-US" sz="2249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Role-Based Dashboards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3821" y="5055245"/>
            <a:ext cx="7191821" cy="44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4"/>
              </a:lnSpc>
            </a:pPr>
            <a:r>
              <a:rPr lang="en-US" sz="175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Customized views for teachers, parents, and administrators.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373791" y="5987951"/>
            <a:ext cx="688925" cy="28575"/>
            <a:chOff x="0" y="0"/>
            <a:chExt cx="918567" cy="38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8591" cy="38100"/>
            </a:xfrm>
            <a:custGeom>
              <a:avLst/>
              <a:gdLst/>
              <a:ahLst/>
              <a:cxnLst/>
              <a:rect l="l" t="t" r="r" b="b"/>
              <a:pathLst>
                <a:path w="91859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99541" y="0"/>
                  </a:lnTo>
                  <a:cubicBezTo>
                    <a:pt x="910082" y="0"/>
                    <a:pt x="918591" y="8509"/>
                    <a:pt x="918591" y="19050"/>
                  </a:cubicBezTo>
                  <a:cubicBezTo>
                    <a:pt x="918591" y="29591"/>
                    <a:pt x="910082" y="38100"/>
                    <a:pt x="8995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EB0A7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885635" y="5743872"/>
            <a:ext cx="516731" cy="516731"/>
            <a:chOff x="0" y="0"/>
            <a:chExt cx="688975" cy="6889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88975" cy="688975"/>
            </a:xfrm>
            <a:custGeom>
              <a:avLst/>
              <a:gdLst/>
              <a:ahLst/>
              <a:cxnLst/>
              <a:rect l="l" t="t" r="r" b="b"/>
              <a:pathLst>
                <a:path w="688975" h="688975">
                  <a:moveTo>
                    <a:pt x="0" y="45974"/>
                  </a:moveTo>
                  <a:cubicBezTo>
                    <a:pt x="0" y="20574"/>
                    <a:pt x="20574" y="0"/>
                    <a:pt x="45974" y="0"/>
                  </a:cubicBezTo>
                  <a:lnTo>
                    <a:pt x="643001" y="0"/>
                  </a:lnTo>
                  <a:cubicBezTo>
                    <a:pt x="668401" y="0"/>
                    <a:pt x="688975" y="20574"/>
                    <a:pt x="688975" y="45974"/>
                  </a:cubicBezTo>
                  <a:lnTo>
                    <a:pt x="688975" y="643001"/>
                  </a:lnTo>
                  <a:cubicBezTo>
                    <a:pt x="688975" y="668401"/>
                    <a:pt x="668401" y="688975"/>
                    <a:pt x="643001" y="688975"/>
                  </a:cubicBezTo>
                  <a:lnTo>
                    <a:pt x="45974" y="688975"/>
                  </a:lnTo>
                  <a:cubicBezTo>
                    <a:pt x="20574" y="688975"/>
                    <a:pt x="0" y="668401"/>
                    <a:pt x="0" y="64300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8971806" y="5825059"/>
            <a:ext cx="344389" cy="39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92357" y="5794176"/>
            <a:ext cx="2870895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Gamification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92357" y="6243042"/>
            <a:ext cx="7191821" cy="44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5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Introduce badges, leaderboards, and interactive challenges.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8225284" y="7175747"/>
            <a:ext cx="688925" cy="28575"/>
            <a:chOff x="0" y="0"/>
            <a:chExt cx="918567" cy="38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8591" cy="38100"/>
            </a:xfrm>
            <a:custGeom>
              <a:avLst/>
              <a:gdLst/>
              <a:ahLst/>
              <a:cxnLst/>
              <a:rect l="l" t="t" r="r" b="b"/>
              <a:pathLst>
                <a:path w="918591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99541" y="0"/>
                  </a:lnTo>
                  <a:cubicBezTo>
                    <a:pt x="910082" y="0"/>
                    <a:pt x="918591" y="8509"/>
                    <a:pt x="918591" y="19050"/>
                  </a:cubicBezTo>
                  <a:cubicBezTo>
                    <a:pt x="918591" y="29591"/>
                    <a:pt x="910082" y="38100"/>
                    <a:pt x="8995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AEB0A7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885635" y="6931670"/>
            <a:ext cx="516731" cy="516731"/>
            <a:chOff x="0" y="0"/>
            <a:chExt cx="688975" cy="68897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88975" cy="688975"/>
            </a:xfrm>
            <a:custGeom>
              <a:avLst/>
              <a:gdLst/>
              <a:ahLst/>
              <a:cxnLst/>
              <a:rect l="l" t="t" r="r" b="b"/>
              <a:pathLst>
                <a:path w="688975" h="688975">
                  <a:moveTo>
                    <a:pt x="0" y="45974"/>
                  </a:moveTo>
                  <a:cubicBezTo>
                    <a:pt x="0" y="20574"/>
                    <a:pt x="20574" y="0"/>
                    <a:pt x="45974" y="0"/>
                  </a:cubicBezTo>
                  <a:lnTo>
                    <a:pt x="643001" y="0"/>
                  </a:lnTo>
                  <a:cubicBezTo>
                    <a:pt x="668401" y="0"/>
                    <a:pt x="688975" y="20574"/>
                    <a:pt x="688975" y="45974"/>
                  </a:cubicBezTo>
                  <a:lnTo>
                    <a:pt x="688975" y="643001"/>
                  </a:lnTo>
                  <a:cubicBezTo>
                    <a:pt x="688975" y="668401"/>
                    <a:pt x="668401" y="688975"/>
                    <a:pt x="643001" y="688975"/>
                  </a:cubicBezTo>
                  <a:lnTo>
                    <a:pt x="45974" y="688975"/>
                  </a:lnTo>
                  <a:cubicBezTo>
                    <a:pt x="20574" y="688975"/>
                    <a:pt x="0" y="668401"/>
                    <a:pt x="0" y="643001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8971806" y="7012856"/>
            <a:ext cx="344389" cy="39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334494" y="6981974"/>
            <a:ext cx="4661147" cy="3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2"/>
              </a:lnSpc>
            </a:pPr>
            <a:r>
              <a:rPr lang="en-US" sz="2249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Comprehensive Analytics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03821" y="7430840"/>
            <a:ext cx="7191821" cy="44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4"/>
              </a:lnSpc>
            </a:pPr>
            <a:r>
              <a:rPr lang="en-US" sz="175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In-depth insights into student performance and platform usage.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3821" y="9030146"/>
            <a:ext cx="16680359" cy="44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750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vision for VidyaSetu is continuously evolving, with a clear roadmap to enhance features and expand its reach, ensuring it remains at the forefront of educational innovation.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564</Words>
  <Application>Microsoft Office PowerPoint</Application>
  <PresentationFormat>Custom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Condensed Italics</vt:lpstr>
      <vt:lpstr>Roboto Condensed</vt:lpstr>
      <vt:lpstr>Arimo Bold</vt:lpstr>
      <vt:lpstr>Arial</vt:lpstr>
      <vt:lpstr>Calibri</vt:lpstr>
      <vt:lpstr>Roboto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Bhaskar Pandey</dc:creator>
  <cp:lastModifiedBy>Bhaskar Pandey</cp:lastModifiedBy>
  <cp:revision>3</cp:revision>
  <dcterms:created xsi:type="dcterms:W3CDTF">2006-08-16T00:00:00Z</dcterms:created>
  <dcterms:modified xsi:type="dcterms:W3CDTF">2025-09-19T10:13:41Z</dcterms:modified>
  <dc:identifier>DAGzWmRR428</dc:identifier>
</cp:coreProperties>
</file>